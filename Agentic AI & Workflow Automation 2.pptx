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8"/>
  </p:notesMasterIdLst>
  <p:handoutMasterIdLst>
    <p:handoutMasterId r:id="rId19"/>
  </p:handoutMasterIdLst>
  <p:sldIdLst>
    <p:sldId id="314" r:id="rId5"/>
    <p:sldId id="315" r:id="rId6"/>
    <p:sldId id="319" r:id="rId7"/>
    <p:sldId id="326" r:id="rId8"/>
    <p:sldId id="317" r:id="rId9"/>
    <p:sldId id="318" r:id="rId10"/>
    <p:sldId id="320" r:id="rId11"/>
    <p:sldId id="321" r:id="rId12"/>
    <p:sldId id="322" r:id="rId13"/>
    <p:sldId id="323" r:id="rId14"/>
    <p:sldId id="324" r:id="rId15"/>
    <p:sldId id="325" r:id="rId16"/>
    <p:sldId id="30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388" autoAdjust="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154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EC1B5-F1DC-02EC-0AB6-BA1BBD8D7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618CE-0212-1DF7-7502-593FAB2E5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52F8B-F9AC-E384-1879-3035FC944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5EFA1-4DFF-9B86-5002-2E564762E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561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10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767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291860"/>
            <a:ext cx="6096000" cy="2561493"/>
          </a:xfrm>
        </p:spPr>
        <p:txBody>
          <a:bodyPr>
            <a:normAutofit/>
          </a:bodyPr>
          <a:lstStyle/>
          <a:p>
            <a:pPr algn="ctr"/>
            <a:r>
              <a:rPr lang="en-GB" sz="6000" b="1" dirty="0"/>
              <a:t>Agentic AI &amp; Workflow Automation</a:t>
            </a: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51220-C18D-188C-A174-EC52FC85BE71}"/>
              </a:ext>
            </a:extLst>
          </p:cNvPr>
          <p:cNvSpPr txBox="1">
            <a:spLocks/>
          </p:cNvSpPr>
          <p:nvPr/>
        </p:nvSpPr>
        <p:spPr>
          <a:xfrm>
            <a:off x="140676" y="6218628"/>
            <a:ext cx="5580185" cy="36505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Instructor: Ali Ejaz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753612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Table of contents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336432"/>
            <a:ext cx="5181600" cy="4909822"/>
          </a:xfrm>
        </p:spPr>
        <p:txBody>
          <a:bodyPr>
            <a:no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Introduction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it-IT" dirty="0"/>
              <a:t>Standard GenAI vs Agentic AI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Core Characteristics of Agents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Pillar 1: The LLM Core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Memory and Voice Layers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Design Pattern: Reflection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Dynamic Tool Use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The "Swarm" Concept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Claude Code: Autonomous Development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Vapi: Voice Intelligence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Agentic Framework Comparison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Agentic RAG &amp; Long-Term Memory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Human-in-the-Loop (HITL)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Modern Agentic Patterns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Tracing the Reasoning with </a:t>
            </a:r>
            <a:r>
              <a:rPr lang="en-GB" dirty="0" err="1"/>
              <a:t>LangSmith</a:t>
            </a:r>
            <a:endParaRPr lang="en-GB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Challenges &amp; Security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34E862E5-2476-CAE9-C3DF-7AD6F1DDE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753612"/>
          </a:xfrm>
        </p:spPr>
        <p:txBody>
          <a:bodyPr>
            <a:normAutofit/>
          </a:bodyPr>
          <a:lstStyle/>
          <a:p>
            <a:r>
              <a:rPr lang="en-US" sz="4000" dirty="0"/>
              <a:t>Introduction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816C65-0057-0A07-F2D7-AE9E97EFC222}"/>
              </a:ext>
            </a:extLst>
          </p:cNvPr>
          <p:cNvSpPr txBox="1"/>
          <p:nvPr/>
        </p:nvSpPr>
        <p:spPr>
          <a:xfrm>
            <a:off x="914400" y="1310363"/>
            <a:ext cx="5317588" cy="502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bg1"/>
                </a:solidFill>
              </a:rPr>
              <a:t>AI Agents: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solidFill>
                  <a:schemeClr val="bg1"/>
                </a:solidFill>
              </a:rPr>
              <a:t>AI agents are autonomous systems that move beyond simple chatting to reason, plan, and execute tools to achieve complex, multi-step goals. </a:t>
            </a:r>
          </a:p>
          <a:p>
            <a:pPr>
              <a:lnSpc>
                <a:spcPct val="150000"/>
              </a:lnSpc>
            </a:pPr>
            <a:endParaRPr lang="en-GB" sz="20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bg1"/>
                </a:solidFill>
              </a:rPr>
              <a:t>Workflow: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solidFill>
                  <a:schemeClr val="bg1"/>
                </a:solidFill>
              </a:rPr>
              <a:t>A workflow is a structured sequence of steps or tasks designed to move a project or process from start to finish.</a:t>
            </a:r>
          </a:p>
        </p:txBody>
      </p:sp>
    </p:spTree>
    <p:extLst>
      <p:ext uri="{BB962C8B-B14F-4D97-AF65-F5344CB8AC3E}">
        <p14:creationId xmlns:p14="http://schemas.microsoft.com/office/powerpoint/2010/main" val="513644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F445E-F39A-CB20-206C-BAA555784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D01A743-E4DC-FD2F-1B0A-E96C0F79F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67" y="1411727"/>
            <a:ext cx="10745066" cy="4034546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EB6711D7-57A5-1312-AAEB-B2DF365FF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753612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771095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0" y="1310639"/>
            <a:ext cx="4805997" cy="2689629"/>
          </a:xfrm>
        </p:spPr>
        <p:txBody>
          <a:bodyPr/>
          <a:lstStyle/>
          <a:p>
            <a:r>
              <a:rPr lang="en-US" dirty="0"/>
              <a:t>Product overview</a:t>
            </a:r>
          </a:p>
        </p:txBody>
      </p:sp>
      <p:pic>
        <p:nvPicPr>
          <p:cNvPr id="5" name="Picture Placeholder 4" descr="A person smelling a small glass bottle">
            <a:extLst>
              <a:ext uri="{FF2B5EF4-FFF2-40B4-BE49-F238E27FC236}">
                <a16:creationId xmlns:a16="http://schemas.microsoft.com/office/drawing/2014/main" id="{95D91661-037A-ECB3-7904-2C3843A98D9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0394" r="20394"/>
          <a:stretch/>
        </p:blipFill>
        <p:spPr>
          <a:xfrm>
            <a:off x="0" y="-10160"/>
            <a:ext cx="6096000" cy="6858000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26163" y="4172990"/>
            <a:ext cx="4805997" cy="2389736"/>
          </a:xfrm>
        </p:spPr>
        <p:txBody>
          <a:bodyPr/>
          <a:lstStyle/>
          <a:p>
            <a:r>
              <a:rPr lang="en-US" dirty="0"/>
              <a:t>First beautifully designed product that's both stylish and functional</a:t>
            </a:r>
          </a:p>
        </p:txBody>
      </p:sp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cap="none" dirty="0"/>
              <a:t>Market gap</a:t>
            </a:r>
            <a:r>
              <a:rPr lang="en-US" sz="2000" cap="none" dirty="0"/>
              <a:t>: few, if any, products on the market help customers like we do</a:t>
            </a:r>
            <a:endParaRPr lang="en-US" sz="2000" cap="none" dirty="0">
              <a:cs typeface="Calibri"/>
            </a:endParaRP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cap="none" dirty="0"/>
              <a:t>Customers</a:t>
            </a:r>
            <a:r>
              <a:rPr lang="en-US" sz="2000" cap="none" dirty="0"/>
              <a:t>: 66% of US consumers spend money on multiple products that only partially resolves their issue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cap="none" dirty="0"/>
              <a:t>Financials</a:t>
            </a:r>
            <a:r>
              <a:rPr lang="en-US" sz="2000" cap="none" dirty="0"/>
              <a:t>: </a:t>
            </a:r>
            <a:r>
              <a:rPr lang="en-US" sz="2000" cap="none" dirty="0">
                <a:ea typeface="+mn-lt"/>
                <a:cs typeface="+mn-lt"/>
              </a:rPr>
              <a:t>millennials account for about a quarter of the $48 billion spent on other products in 2018</a:t>
            </a:r>
            <a:endParaRPr lang="en-US" sz="2000" cap="none" dirty="0">
              <a:cs typeface="Calibri" panose="020F0502020204030204"/>
            </a:endParaRP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cap="none" dirty="0"/>
              <a:t>Costs</a:t>
            </a:r>
            <a:r>
              <a:rPr lang="en-US" sz="2000" cap="none" dirty="0"/>
              <a:t>: loss of productivity costing consumers thousands of dollars </a:t>
            </a:r>
            <a:endParaRPr lang="en-US" sz="2000" cap="none" dirty="0">
              <a:cs typeface="Calibri" panose="020F0502020204030204"/>
            </a:endParaRP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cap="none" dirty="0"/>
              <a:t>Usability</a:t>
            </a:r>
            <a:r>
              <a:rPr lang="en-US" sz="2000" cap="none" dirty="0"/>
              <a:t>: customers want something easy to use that helps make their life easier </a:t>
            </a:r>
            <a:endParaRPr lang="en-US" sz="2000" cap="none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/>
          <a:lstStyle/>
          <a:p>
            <a:r>
              <a:rPr lang="en-US" dirty="0"/>
              <a:t>Our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4992709" cy="3747180"/>
          </a:xfrm>
        </p:spPr>
        <p:txBody>
          <a:bodyPr/>
          <a:lstStyle/>
          <a:p>
            <a:r>
              <a:rPr lang="en-US" noProof="1"/>
              <a:t>Our product is priced below that of other companies on the market</a:t>
            </a:r>
          </a:p>
          <a:p>
            <a:r>
              <a:rPr lang="en-US" noProof="1"/>
              <a:t>Design is simple and easy to use, compared to the complex designs of the competitors</a:t>
            </a:r>
          </a:p>
          <a:p>
            <a:r>
              <a:rPr lang="en-US" noProof="1"/>
              <a:t>Affordability is the main draw for our consumers to our product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ADA2D-CE7A-511E-45B9-EAF4FA520E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4891" y="2022250"/>
            <a:ext cx="4992709" cy="3747180"/>
          </a:xfrm>
        </p:spPr>
        <p:txBody>
          <a:bodyPr/>
          <a:lstStyle/>
          <a:p>
            <a:r>
              <a:rPr lang="en-US" noProof="1"/>
              <a:t>Company A product is more expensive</a:t>
            </a:r>
          </a:p>
          <a:p>
            <a:r>
              <a:rPr lang="en-US" noProof="1"/>
              <a:t>Companies B &amp; C product is expensive and inconvenient to use</a:t>
            </a:r>
          </a:p>
          <a:p>
            <a:r>
              <a:rPr lang="en-US" noProof="1"/>
              <a:t>Companies D &amp; E product is affordable, but inconvenient to 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/>
          <a:lstStyle/>
          <a:p>
            <a:r>
              <a:rPr lang="en-US" dirty="0"/>
              <a:t>Product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4C67C-D286-74AE-086C-3E45FF9D95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3310129" cy="3747180"/>
          </a:xfrm>
        </p:spPr>
        <p:txBody>
          <a:bodyPr/>
          <a:lstStyle/>
          <a:p>
            <a:r>
              <a:rPr lang="en-US" dirty="0"/>
              <a:t>Unique</a:t>
            </a:r>
          </a:p>
          <a:p>
            <a:r>
              <a:rPr lang="en-US" dirty="0"/>
              <a:t>First to market</a:t>
            </a:r>
          </a:p>
          <a:p>
            <a:r>
              <a:rPr lang="en-US" dirty="0"/>
              <a:t>Tested</a:t>
            </a:r>
          </a:p>
          <a:p>
            <a:r>
              <a:rPr lang="en-US" dirty="0"/>
              <a:t>Authentic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C2F4A-ABC8-39B2-B7BB-36C02B7A45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02310" y="2018120"/>
            <a:ext cx="6751489" cy="3747180"/>
          </a:xfrm>
        </p:spPr>
        <p:txBody>
          <a:bodyPr/>
          <a:lstStyle/>
          <a:p>
            <a:r>
              <a:rPr lang="en-US" dirty="0"/>
              <a:t>Only product specifically dedicated to this niche market</a:t>
            </a:r>
          </a:p>
          <a:p>
            <a:r>
              <a:rPr lang="en-US" dirty="0"/>
              <a:t>First beautifully designed product that's both stylish and functional</a:t>
            </a:r>
          </a:p>
          <a:p>
            <a:r>
              <a:rPr lang="en-US" dirty="0"/>
              <a:t>Conducted testing with college students in the area</a:t>
            </a:r>
          </a:p>
          <a:p>
            <a:r>
              <a:rPr lang="en-US" dirty="0"/>
              <a:t>Designed with the help and input of experts in the field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85" y="446313"/>
            <a:ext cx="5179615" cy="1448747"/>
          </a:xfrm>
        </p:spPr>
        <p:txBody>
          <a:bodyPr/>
          <a:lstStyle/>
          <a:p>
            <a:r>
              <a:rPr lang="en-US" dirty="0"/>
              <a:t>Growth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26637-007F-EC9E-F644-AAFBA0900F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5181600" cy="3747180"/>
          </a:xfrm>
        </p:spPr>
        <p:txBody>
          <a:bodyPr/>
          <a:lstStyle/>
          <a:p>
            <a:r>
              <a:rPr lang="en-US" b="1" dirty="0"/>
              <a:t>Feb 20XX: </a:t>
            </a:r>
            <a:r>
              <a:rPr lang="en-US" dirty="0"/>
              <a:t>roll out product to high profile or top-level participants to help establish the product</a:t>
            </a:r>
          </a:p>
          <a:p>
            <a:r>
              <a:rPr lang="en-US" b="1" dirty="0"/>
              <a:t>May 20XX: </a:t>
            </a:r>
            <a:r>
              <a:rPr lang="en-US" dirty="0"/>
              <a:t>release the product to the public and monitor press release and social media accounts</a:t>
            </a:r>
          </a:p>
          <a:p>
            <a:r>
              <a:rPr lang="en-US" b="1" dirty="0"/>
              <a:t>Oct 20XX: </a:t>
            </a:r>
            <a:r>
              <a:rPr lang="en-US" dirty="0"/>
              <a:t>gather feedback and adjust product design as necessary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8" name="Picture Placeholder 17" descr="Two people looking at their phones">
            <a:extLst>
              <a:ext uri="{FF2B5EF4-FFF2-40B4-BE49-F238E27FC236}">
                <a16:creationId xmlns:a16="http://schemas.microsoft.com/office/drawing/2014/main" id="{1609D79A-E8EF-302E-E8CA-07C644CE0E0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81" r="81"/>
          <a:stretch/>
        </p:blipFill>
        <p:spPr>
          <a:xfrm>
            <a:off x="6076950" y="0"/>
            <a:ext cx="6115050" cy="6868886"/>
          </a:xfrm>
        </p:spPr>
      </p:pic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2B2F-534F-A196-1186-33D282CE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2" cy="1603462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71586-1388-197C-1294-83D4DD8529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3299013" cy="3914910"/>
          </a:xfrm>
        </p:spPr>
        <p:txBody>
          <a:bodyPr/>
          <a:lstStyle/>
          <a:p>
            <a:r>
              <a:rPr lang="en-US" dirty="0"/>
              <a:t>Opportunity to build</a:t>
            </a:r>
          </a:p>
          <a:p>
            <a:r>
              <a:rPr lang="en-US" dirty="0"/>
              <a:t>Fully inclusive market</a:t>
            </a:r>
          </a:p>
          <a:p>
            <a:r>
              <a:rPr lang="en-US" dirty="0"/>
              <a:t>Total addressable market</a:t>
            </a:r>
          </a:p>
          <a:p>
            <a:r>
              <a:rPr lang="en-US" noProof="1"/>
              <a:t>Freedom to invent</a:t>
            </a:r>
            <a:endParaRPr lang="en-US" dirty="0"/>
          </a:p>
          <a:p>
            <a:r>
              <a:rPr lang="en-US" noProof="1"/>
              <a:t>Selectively inclusive market</a:t>
            </a:r>
          </a:p>
          <a:p>
            <a:r>
              <a:rPr lang="en-US" noProof="1"/>
              <a:t>Serviceable available market</a:t>
            </a:r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2EE5D6E7-8306-54E8-220A-099D3B755FFE}"/>
              </a:ext>
            </a:extLst>
          </p:cNvPr>
          <p:cNvGraphicFramePr>
            <a:graphicFrameLocks noGrp="1"/>
          </p:cNvGraphicFramePr>
          <p:nvPr>
            <p:ph type="tbl" sz="quarter" idx="11"/>
            <p:extLst>
              <p:ext uri="{D42A27DB-BD31-4B8C-83A1-F6EECF244321}">
                <p14:modId xmlns:p14="http://schemas.microsoft.com/office/powerpoint/2010/main" val="2564561545"/>
              </p:ext>
            </p:extLst>
          </p:nvPr>
        </p:nvGraphicFramePr>
        <p:xfrm>
          <a:off x="4602163" y="2017713"/>
          <a:ext cx="6675294" cy="3925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272">
                  <a:extLst>
                    <a:ext uri="{9D8B030D-6E8A-4147-A177-3AD203B41FA5}">
                      <a16:colId xmlns:a16="http://schemas.microsoft.com/office/drawing/2014/main" val="3233966979"/>
                    </a:ext>
                  </a:extLst>
                </a:gridCol>
                <a:gridCol w="1085272">
                  <a:extLst>
                    <a:ext uri="{9D8B030D-6E8A-4147-A177-3AD203B41FA5}">
                      <a16:colId xmlns:a16="http://schemas.microsoft.com/office/drawing/2014/main" val="1158840958"/>
                    </a:ext>
                  </a:extLst>
                </a:gridCol>
                <a:gridCol w="1085272">
                  <a:extLst>
                    <a:ext uri="{9D8B030D-6E8A-4147-A177-3AD203B41FA5}">
                      <a16:colId xmlns:a16="http://schemas.microsoft.com/office/drawing/2014/main" val="1014947327"/>
                    </a:ext>
                  </a:extLst>
                </a:gridCol>
                <a:gridCol w="1709739">
                  <a:extLst>
                    <a:ext uri="{9D8B030D-6E8A-4147-A177-3AD203B41FA5}">
                      <a16:colId xmlns:a16="http://schemas.microsoft.com/office/drawing/2014/main" val="2653728004"/>
                    </a:ext>
                  </a:extLst>
                </a:gridCol>
                <a:gridCol w="1709739">
                  <a:extLst>
                    <a:ext uri="{9D8B030D-6E8A-4147-A177-3AD203B41FA5}">
                      <a16:colId xmlns:a16="http://schemas.microsoft.com/office/drawing/2014/main" val="4218738779"/>
                    </a:ext>
                  </a:extLst>
                </a:gridCol>
              </a:tblGrid>
              <a:tr h="785097"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Clients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Orders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Gross revenue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Net revenue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3213590700"/>
                  </a:ext>
                </a:extLst>
              </a:tr>
              <a:tr h="785097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1100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$10,000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$7,000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2830826746"/>
                  </a:ext>
                </a:extLst>
              </a:tr>
              <a:tr h="785097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$20,000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$16,000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2517333721"/>
                  </a:ext>
                </a:extLst>
              </a:tr>
              <a:tr h="785097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$30,000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$25,000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3321589815"/>
                  </a:ext>
                </a:extLst>
              </a:tr>
              <a:tr h="785097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$40,000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$30,000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334583280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261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90" y="434225"/>
            <a:ext cx="9524998" cy="1499627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41F64-E350-1F21-8A57-E740F48F31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6257366" cy="3914910"/>
          </a:xfrm>
        </p:spPr>
        <p:txBody>
          <a:bodyPr/>
          <a:lstStyle/>
          <a:p>
            <a:r>
              <a:rPr lang="en-US" dirty="0"/>
              <a:t>Our product makes consumer lives easier, and no other product on the market offers the same features</a:t>
            </a:r>
          </a:p>
          <a:p>
            <a:pPr lvl="1"/>
            <a:r>
              <a:rPr lang="en-US" dirty="0"/>
              <a:t>Gen Z (18-25 years old)</a:t>
            </a:r>
          </a:p>
          <a:p>
            <a:pPr lvl="1"/>
            <a:r>
              <a:rPr lang="en-US" dirty="0"/>
              <a:t>Reduce expenses for replacement products </a:t>
            </a:r>
          </a:p>
          <a:p>
            <a:pPr lvl="1"/>
            <a:r>
              <a:rPr lang="en-US" dirty="0"/>
              <a:t>Simple design that gives customers the targeted information they need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5AC68-D86C-E73B-5402-F22C9F54DC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967475" y="2018119"/>
            <a:ext cx="2449514" cy="3931919"/>
          </a:xfrm>
        </p:spPr>
        <p:txBody>
          <a:bodyPr/>
          <a:lstStyle/>
          <a:p>
            <a:r>
              <a:rPr lang="en-US" dirty="0"/>
              <a:t>Close the gap</a:t>
            </a:r>
          </a:p>
          <a:p>
            <a:r>
              <a:rPr lang="en-US" dirty="0"/>
              <a:t>Target audience </a:t>
            </a:r>
          </a:p>
          <a:p>
            <a:r>
              <a:rPr lang="en-US" dirty="0"/>
              <a:t>Cost savings</a:t>
            </a:r>
          </a:p>
          <a:p>
            <a:r>
              <a:rPr lang="en-US" dirty="0"/>
              <a:t>Easy to 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ECED9-3D31-C7EF-C4E5-0D218F61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5" y="584477"/>
            <a:ext cx="10354052" cy="1209765"/>
          </a:xfrm>
        </p:spPr>
        <p:txBody>
          <a:bodyPr/>
          <a:lstStyle/>
          <a:p>
            <a:r>
              <a:rPr lang="en-US" dirty="0"/>
              <a:t>Financials</a:t>
            </a:r>
          </a:p>
        </p:txBody>
      </p:sp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B782709C-FC0C-E355-9C94-A8EE025BAC7B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829977845"/>
              </p:ext>
            </p:extLst>
          </p:nvPr>
        </p:nvGraphicFramePr>
        <p:xfrm>
          <a:off x="923925" y="2009775"/>
          <a:ext cx="10363201" cy="3934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4555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2012882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  <a:gridCol w="2012882">
                  <a:extLst>
                    <a:ext uri="{9D8B030D-6E8A-4147-A177-3AD203B41FA5}">
                      <a16:colId xmlns:a16="http://schemas.microsoft.com/office/drawing/2014/main" val="1935352797"/>
                    </a:ext>
                  </a:extLst>
                </a:gridCol>
                <a:gridCol w="2012882">
                  <a:extLst>
                    <a:ext uri="{9D8B030D-6E8A-4147-A177-3AD203B41FA5}">
                      <a16:colId xmlns:a16="http://schemas.microsoft.com/office/drawing/2014/main" val="1218263486"/>
                    </a:ext>
                  </a:extLst>
                </a:gridCol>
              </a:tblGrid>
              <a:tr h="56201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 1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 2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 3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56201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Income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56201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Users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1,600,000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56201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Sales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4,000,000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16,000,000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56201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Average price per sale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75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56201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Revenue @ 15%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5,625,000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48,000,000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216,000,000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  <a:tr h="56201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Gross profit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5,625,000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48,000,000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216,000,000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200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50FF3-CE3C-DDFB-B8EA-5BA1668A1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500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25</TotalTime>
  <Words>544</Words>
  <Application>Microsoft Office PowerPoint</Application>
  <PresentationFormat>Widescreen</PresentationFormat>
  <Paragraphs>141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Custom</vt:lpstr>
      <vt:lpstr>Agentic AI &amp; Workflow Automation</vt:lpstr>
      <vt:lpstr>Table of contents</vt:lpstr>
      <vt:lpstr>Introduction</vt:lpstr>
      <vt:lpstr>Introduction</vt:lpstr>
      <vt:lpstr>Product overview</vt:lpstr>
      <vt:lpstr>Problem </vt:lpstr>
      <vt:lpstr>Our competition</vt:lpstr>
      <vt:lpstr>Product overview </vt:lpstr>
      <vt:lpstr>Growth strategy</vt:lpstr>
      <vt:lpstr>Market overview</vt:lpstr>
      <vt:lpstr>Solution</vt:lpstr>
      <vt:lpstr>Financials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190701011</dc:creator>
  <cp:lastModifiedBy>190701011</cp:lastModifiedBy>
  <cp:revision>9</cp:revision>
  <dcterms:created xsi:type="dcterms:W3CDTF">2026-04-28T18:41:57Z</dcterms:created>
  <dcterms:modified xsi:type="dcterms:W3CDTF">2026-04-28T19:07:53Z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